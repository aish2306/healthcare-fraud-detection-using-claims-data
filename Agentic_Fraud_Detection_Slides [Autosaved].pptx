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7" r:id="rId5"/>
    <p:sldId id="278" r:id="rId6"/>
    <p:sldId id="272" r:id="rId7"/>
    <p:sldId id="280" r:id="rId8"/>
    <p:sldId id="281" r:id="rId9"/>
    <p:sldId id="264" r:id="rId10"/>
    <p:sldId id="265" r:id="rId11"/>
    <p:sldId id="273" r:id="rId12"/>
    <p:sldId id="274" r:id="rId13"/>
    <p:sldId id="275" r:id="rId14"/>
    <p:sldId id="276" r:id="rId15"/>
    <p:sldId id="259" r:id="rId16"/>
    <p:sldId id="268" r:id="rId17"/>
    <p:sldId id="262" r:id="rId18"/>
    <p:sldId id="263" r:id="rId19"/>
    <p:sldId id="269" r:id="rId20"/>
    <p:sldId id="261" r:id="rId21"/>
    <p:sldId id="27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78219"/>
  </p:normalViewPr>
  <p:slideViewPr>
    <p:cSldViewPr snapToGrid="0" snapToObjects="1">
      <p:cViewPr varScale="1">
        <p:scale>
          <a:sx n="98" d="100"/>
          <a:sy n="98" d="100"/>
        </p:scale>
        <p:origin x="1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43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8EB65-3B7E-C2FF-4F2F-9CC3E5DE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57D2D-AF70-BF40-F9DA-6D5E8BB55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4CD65-3111-7B09-95CA-E0FF6739F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1A456-3CE2-B00F-A7F0-E8F116D30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21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D486-6FA7-46AC-E3D7-6575A361D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A3BB6-72F6-C23D-51A3-798AAE8C7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3F4FF-9271-3205-4934-9B56F28B1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353C1-93DF-7605-3CD7-29E819A1D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68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E26E-834E-35C3-0DC4-27C2C5B1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650B6-669E-A85D-C7C5-32EF8642B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04180-20DE-49D5-D2A9-064C930F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D3C5D-0DF1-9132-98CB-A00A0C66C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83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BA30-EDC4-048F-750D-5B15B4AD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9B1B9-9F6B-8063-CFC7-B68E4F750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29B44-E93E-F6E8-DD5A-C2B74C377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9A9AD-4B03-DF9F-AB65-ECB63EEDE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92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D586E-3A8B-01F1-AEB2-CAF0678B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83E81-3900-0972-F8CA-FAEC0741E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17703-8348-07F1-8729-FCE2F4EAD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AF273-AF93-9F39-64B3-FE7D44EF9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46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61D8-2105-AE1D-05A5-0521864F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22E28-7438-6A3D-ECAD-96785404E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570C2-072A-F44B-BE7F-7CD3CC0E6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93D1D-32BE-3410-1F93-F5CEF8F20F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84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A9C3-00D0-B157-E898-29B30BF43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AB726-B286-E12D-22C2-5101F071D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3D608-8F40-C84C-C565-C57954CA4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51625-0F0D-2CC9-6A8B-294693B3CB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67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D4EEC-2C31-2804-3356-FC7AD7D0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90C26-DE0F-E2BA-95FA-D8011FC50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51782-67C3-7215-413C-A2458DF41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B8DA0-9F4C-F785-E9E0-D5AB076AE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03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96CE-F447-A956-B92E-2E33BD6CD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1EC2C-4258-CD60-C207-BAF20DBD5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48E1F-2F99-45D1-FA9E-F60CE4EBB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B6539-7012-DBBC-E3D3-007FE57D1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57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26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38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77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make a case for coordinated agents using the prototype for fraud detection. The output is an explained action tied to the correct rule and date, with a human in control. looking forward to next steps and implementing this at scale at Cotiviti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6916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</a:t>
            </a:r>
            <a:r>
              <a:rPr lang="en-US" sz="4200" b="1" dirty="0">
                <a:solidFill>
                  <a:srgbClr val="8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Fraud Detection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3508935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1E3047"/>
          </a:solidFill>
          <a:ln w="12700">
            <a:solidFill>
              <a:srgbClr val="334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508935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</a:t>
            </a: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11880" y="3508935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1E3047"/>
          </a:solidFill>
          <a:ln w="12700">
            <a:solidFill>
              <a:srgbClr val="334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94760" y="3508935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</a:t>
            </a: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Proof of Concept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Aishwarya Chandrasekaran 	                					       </a:t>
            </a: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University of Delaware     	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leaves </a:t>
            </a:r>
            <a:r>
              <a:rPr lang="en-US" sz="30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checks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279806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380390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engines and retroactive audits create a </a:t>
            </a:r>
            <a:r>
              <a:rPr lang="en-US" sz="14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 and chase”</a:t>
            </a:r>
            <a:r>
              <a:rPr lang="en-US" sz="14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cycle: recovering paid dollars is costly and abrades providers.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498080" y="2606040"/>
            <a:ext cx="3657600" cy="0"/>
          </a:xfrm>
          <a:prstGeom prst="line">
            <a:avLst/>
          </a:prstGeom>
          <a:noFill/>
          <a:ln w="25400">
            <a:solidFill>
              <a:srgbClr val="D2D1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71232" y="2542032"/>
            <a:ext cx="146304" cy="146304"/>
          </a:xfrm>
          <a:prstGeom prst="ellipse">
            <a:avLst/>
          </a:prstGeom>
          <a:solidFill>
            <a:srgbClr val="3C8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 paid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62872" y="2542032"/>
            <a:ext cx="146304" cy="146304"/>
          </a:xfrm>
          <a:prstGeom prst="ellipse">
            <a:avLst/>
          </a:prstGeom>
          <a:solidFill>
            <a:srgbClr val="BE7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9536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later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954512" y="2542032"/>
            <a:ext cx="146304" cy="146304"/>
          </a:xfrm>
          <a:prstGeom prst="ellipse">
            <a:avLst/>
          </a:prstGeom>
          <a:solidFill>
            <a:srgbClr val="AF4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8700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9556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98080" y="3291840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F4E6E2"/>
          </a:solidFill>
          <a:ln w="12700">
            <a:solidFill>
              <a:srgbClr val="E6C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2668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≠ recovered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2668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is not a dollar back. Denials get appealed; recovery varies by error type.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Care Anti-Fraud Association</a:t>
            </a:r>
            <a:endParaRPr lang="en-US" sz="11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338BA3-EA75-76F6-04A8-379D576BA9B5}"/>
              </a:ext>
            </a:extLst>
          </p:cNvPr>
          <p:cNvSpPr txBox="1"/>
          <p:nvPr/>
        </p:nvSpPr>
        <p:spPr>
          <a:xfrm>
            <a:off x="1581912" y="2855336"/>
            <a:ext cx="5458674" cy="322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4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3–10% of total healthcare spending</a:t>
            </a:r>
            <a:r>
              <a:rPr lang="en-US" sz="14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lost to fraud, waste, and abuse.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TRENDS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MODELS TO COORDINATED AGENTS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is not a decision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7F3F1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50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MODELS &amp; RULE EDITS — WHERE THEY BREAK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02361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Recall-tuned classifiers flood investigators with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without adversarial checks, errors propagate.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06525" y="3571489"/>
            <a:ext cx="4303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137 studies, supervised tree-based ensemble models and unsupervised models cover unlabeled data but all output “scores”, not decisions tied to reasoning and explanations.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37F9-AB08-ED4F-CD91-3E3E89581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505637-BCDE-42EC-C63C-C06D5D358437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TRENDS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51A5BB-5C75-E4F2-B7B2-DB5968BCE767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825ADC-209C-53E9-AD1E-E1FE47F04964}"/>
              </a:ext>
            </a:extLst>
          </p:cNvPr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MODELS TO COORDINATED AGENTS</a:t>
            </a:r>
            <a:endParaRPr lang="en-US"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9A3C5F-625C-8234-7DE5-8B33A9EEEDC6}"/>
              </a:ext>
            </a:extLst>
          </p:cNvPr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is not a decision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280D3F8-A0DC-A31F-DCF1-BCF4266D43D9}"/>
              </a:ext>
            </a:extLst>
          </p:cNvPr>
          <p:cNvSpPr/>
          <p:nvPr/>
        </p:nvSpPr>
        <p:spPr>
          <a:xfrm>
            <a:off x="548640" y="224028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7F3F1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9C70DB-A84D-FA5C-3FCC-48B89E9A257B}"/>
              </a:ext>
            </a:extLst>
          </p:cNvPr>
          <p:cNvSpPr/>
          <p:nvPr/>
        </p:nvSpPr>
        <p:spPr>
          <a:xfrm>
            <a:off x="8229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50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MODELS &amp; RULE EDITS — WHERE THEY BREAK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2F8C1E-D491-8C32-6F9C-ECB9616335FA}"/>
              </a:ext>
            </a:extLst>
          </p:cNvPr>
          <p:cNvSpPr/>
          <p:nvPr/>
        </p:nvSpPr>
        <p:spPr>
          <a:xfrm>
            <a:off x="82296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237844C-9517-367B-0C7B-8D5199A459A3}"/>
              </a:ext>
            </a:extLst>
          </p:cNvPr>
          <p:cNvSpPr/>
          <p:nvPr/>
        </p:nvSpPr>
        <p:spPr>
          <a:xfrm>
            <a:off x="1143000" y="302361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Recall-tuned classifiers flood investigators with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without adversarial checks, errors propagate.</a:t>
            </a: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AA6A142-7AB1-8EC5-8375-533D654F4ADF}"/>
              </a:ext>
            </a:extLst>
          </p:cNvPr>
          <p:cNvSpPr/>
          <p:nvPr/>
        </p:nvSpPr>
        <p:spPr>
          <a:xfrm>
            <a:off x="8229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A3BD83B-C694-C345-647D-446C4AF36580}"/>
              </a:ext>
            </a:extLst>
          </p:cNvPr>
          <p:cNvSpPr/>
          <p:nvPr/>
        </p:nvSpPr>
        <p:spPr>
          <a:xfrm>
            <a:off x="1143000" y="39136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only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claims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isolated provider profiles and no network view.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B5B1B1-C78B-B4F3-A0E5-4533C610BE7E}"/>
              </a:ext>
            </a:extLst>
          </p:cNvPr>
          <p:cNvSpPr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6B7ABB4-1078-428A-C9B3-19037D4A9128}"/>
              </a:ext>
            </a:extLst>
          </p:cNvPr>
          <p:cNvSpPr/>
          <p:nvPr/>
        </p:nvSpPr>
        <p:spPr>
          <a:xfrm>
            <a:off x="1143000" y="47823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3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103960-E745-E2E9-C084-0CA7632FCC32}"/>
              </a:ext>
            </a:extLst>
          </p:cNvPr>
          <p:cNvSpPr/>
          <p:nvPr/>
        </p:nvSpPr>
        <p:spPr>
          <a:xfrm>
            <a:off x="6806525" y="3571489"/>
            <a:ext cx="4303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137 studies, supervised tree-based ensemble models and unsupervised models cover unlabeled data  but all output “scores”, not decisions tied to reasoning and explanations.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4189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B5EED-1169-127E-1BAE-3E368215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6E70F5-A2DD-4C6F-B13D-70E49A713E4F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TRENDS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77ABE9-55B8-764C-D513-0B51B57F4848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5E0DB2-0EE4-6B74-DA41-59B62F00B1FF}"/>
              </a:ext>
            </a:extLst>
          </p:cNvPr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MODELS TO COORDINATED AGENTS</a:t>
            </a:r>
            <a:endParaRPr lang="en-US"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552D88-7E2C-F2A5-2662-BF82396E03A0}"/>
              </a:ext>
            </a:extLst>
          </p:cNvPr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is not a decision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4F7C1DC-63B1-5394-CB60-695DB36092FB}"/>
              </a:ext>
            </a:extLst>
          </p:cNvPr>
          <p:cNvSpPr/>
          <p:nvPr/>
        </p:nvSpPr>
        <p:spPr>
          <a:xfrm>
            <a:off x="548640" y="224028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7F3F1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FCF51A-A3DE-06BD-0B77-59AE0BE9494A}"/>
              </a:ext>
            </a:extLst>
          </p:cNvPr>
          <p:cNvSpPr/>
          <p:nvPr/>
        </p:nvSpPr>
        <p:spPr>
          <a:xfrm>
            <a:off x="8229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50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MODELS &amp; RULE EDITS — WHERE THEY BREAK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D1A8DC-CB44-D249-0966-B86431D2BE91}"/>
              </a:ext>
            </a:extLst>
          </p:cNvPr>
          <p:cNvSpPr/>
          <p:nvPr/>
        </p:nvSpPr>
        <p:spPr>
          <a:xfrm>
            <a:off x="82296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10D2EDD-9CD1-AC82-7287-5F41B2C877A1}"/>
              </a:ext>
            </a:extLst>
          </p:cNvPr>
          <p:cNvSpPr/>
          <p:nvPr/>
        </p:nvSpPr>
        <p:spPr>
          <a:xfrm>
            <a:off x="1143000" y="302361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Recall-tuned classifiers flood investigators with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without adversarial checks, errors propagate.</a:t>
            </a: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BD974F-C7CC-ABB7-9071-D03F573D3B40}"/>
              </a:ext>
            </a:extLst>
          </p:cNvPr>
          <p:cNvSpPr/>
          <p:nvPr/>
        </p:nvSpPr>
        <p:spPr>
          <a:xfrm>
            <a:off x="8229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4CA683-8B70-1A0E-EDDF-3D1048EA4585}"/>
              </a:ext>
            </a:extLst>
          </p:cNvPr>
          <p:cNvSpPr/>
          <p:nvPr/>
        </p:nvSpPr>
        <p:spPr>
          <a:xfrm>
            <a:off x="1143000" y="39136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only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claims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isolated provider profiles and no network view.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406AF6-8FDF-EC90-6EAF-0927E6E08935}"/>
              </a:ext>
            </a:extLst>
          </p:cNvPr>
          <p:cNvSpPr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2A7429-22B4-ABE7-A8CE-E4803309A212}"/>
              </a:ext>
            </a:extLst>
          </p:cNvPr>
          <p:cNvSpPr/>
          <p:nvPr/>
        </p:nvSpPr>
        <p:spPr>
          <a:xfrm>
            <a:off x="1143000" y="47823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add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and data-leakage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without domain-specific guardrails.</a:t>
            </a:r>
            <a:endParaRPr lang="en-US" sz="13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6AC6D88-758C-54AE-9EA6-BD78B6B48F68}"/>
              </a:ext>
            </a:extLst>
          </p:cNvPr>
          <p:cNvSpPr/>
          <p:nvPr/>
        </p:nvSpPr>
        <p:spPr>
          <a:xfrm>
            <a:off x="6806525" y="3571489"/>
            <a:ext cx="4303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137 studies, supervised tree-based ensemble models and unsupervised models cover unlabeled data  but all output “scores”, not decisions tied to reasoning and explanations.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9695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B59D-19F2-9D25-5F32-E9DBA333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7EC6FC-3E1E-2AFB-12FF-5FEDCBD0890A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PROPOSAL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B45050-13FF-7257-63FD-86D32E6782E0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FDEE52-E809-7A1B-893E-C50EE69B120D}"/>
              </a:ext>
            </a:extLst>
          </p:cNvPr>
          <p:cNvSpPr/>
          <p:nvPr/>
        </p:nvSpPr>
        <p:spPr>
          <a:xfrm>
            <a:off x="594360" y="813816"/>
            <a:ext cx="10058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ML MODELS TO COORDINATED MULTI-AGENTS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67C8310-E63B-AB75-5067-236ACB0FD205}"/>
              </a:ext>
            </a:extLst>
          </p:cNvPr>
          <p:cNvSpPr/>
          <p:nvPr/>
        </p:nvSpPr>
        <p:spPr>
          <a:xfrm>
            <a:off x="548640" y="224028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7F3F1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03C8E5-3670-9CB3-BE0D-13366DB56386}"/>
              </a:ext>
            </a:extLst>
          </p:cNvPr>
          <p:cNvSpPr/>
          <p:nvPr/>
        </p:nvSpPr>
        <p:spPr>
          <a:xfrm>
            <a:off x="8229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50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MODELS &amp; RULE EDITS — WHERE THEY BREAK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C3B7A8-6260-8D2C-2C7C-D7FF10AAD841}"/>
              </a:ext>
            </a:extLst>
          </p:cNvPr>
          <p:cNvSpPr/>
          <p:nvPr/>
        </p:nvSpPr>
        <p:spPr>
          <a:xfrm>
            <a:off x="82296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1283DC-D314-A698-7284-82C63E512D47}"/>
              </a:ext>
            </a:extLst>
          </p:cNvPr>
          <p:cNvSpPr/>
          <p:nvPr/>
        </p:nvSpPr>
        <p:spPr>
          <a:xfrm>
            <a:off x="1143000" y="30449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Recall-tuned classifiers flood investigators with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without adversarial checks, errors propagate.</a:t>
            </a: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0E068EB-3B50-DA74-96A0-F2A3930B5AE7}"/>
              </a:ext>
            </a:extLst>
          </p:cNvPr>
          <p:cNvSpPr/>
          <p:nvPr/>
        </p:nvSpPr>
        <p:spPr>
          <a:xfrm>
            <a:off x="8229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1A15A1-3A4B-5E38-40A6-EF19165D83E2}"/>
              </a:ext>
            </a:extLst>
          </p:cNvPr>
          <p:cNvSpPr/>
          <p:nvPr/>
        </p:nvSpPr>
        <p:spPr>
          <a:xfrm>
            <a:off x="1143000" y="39136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only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claims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isolated provider profiles and no network view.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B0A9A7-A84C-F65D-420F-347CB6C4432A}"/>
              </a:ext>
            </a:extLst>
          </p:cNvPr>
          <p:cNvSpPr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7EE2AB9-C76A-8F90-FF0D-D588F1251D7C}"/>
              </a:ext>
            </a:extLst>
          </p:cNvPr>
          <p:cNvSpPr/>
          <p:nvPr/>
        </p:nvSpPr>
        <p:spPr>
          <a:xfrm>
            <a:off x="1143000" y="47823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add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and data-leakage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without domain-specific guardrails.</a:t>
            </a:r>
            <a:endParaRPr lang="en-US" sz="13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6DC6AE8-6D78-1C3D-C8BE-95834DF3A847}"/>
              </a:ext>
            </a:extLst>
          </p:cNvPr>
          <p:cNvSpPr/>
          <p:nvPr/>
        </p:nvSpPr>
        <p:spPr>
          <a:xfrm>
            <a:off x="6260592" y="226314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CDCACC-8228-499A-03E0-1854146B75DC}"/>
              </a:ext>
            </a:extLst>
          </p:cNvPr>
          <p:cNvSpPr/>
          <p:nvPr/>
        </p:nvSpPr>
        <p:spPr>
          <a:xfrm>
            <a:off x="6534912" y="254323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— WHAT CHANGES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1391C96-9307-B8EA-E94F-02D593E3BFCA}"/>
              </a:ext>
            </a:extLst>
          </p:cNvPr>
          <p:cNvSpPr/>
          <p:nvPr/>
        </p:nvSpPr>
        <p:spPr>
          <a:xfrm>
            <a:off x="6480048" y="3024705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C3B498D-2E4F-8C03-5034-365FC696748A}"/>
              </a:ext>
            </a:extLst>
          </p:cNvPr>
          <p:cNvSpPr/>
          <p:nvPr/>
        </p:nvSpPr>
        <p:spPr>
          <a:xfrm>
            <a:off x="6754368" y="3051483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roles </a:t>
            </a: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decision process</a:t>
            </a: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emitting one number.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BDA8B9B-E5B3-8D81-1861-897CD6F13ECE}"/>
              </a:ext>
            </a:extLst>
          </p:cNvPr>
          <p:cNvSpPr/>
          <p:nvPr/>
        </p:nvSpPr>
        <p:spPr>
          <a:xfrm>
            <a:off x="6492240" y="3788229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6911077-9500-081A-5568-A20E0A798E58}"/>
              </a:ext>
            </a:extLst>
          </p:cNvPr>
          <p:cNvSpPr/>
          <p:nvPr/>
        </p:nvSpPr>
        <p:spPr>
          <a:xfrm>
            <a:off x="6480048" y="4702629"/>
            <a:ext cx="274320" cy="454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43897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A98B-45AF-8667-96D4-D77FF757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980A87-9A37-AFD6-D734-699F99125B77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PROPOSAL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186120-A714-5403-8787-CF74AEDA309C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970E83-4D29-DB96-3CB6-B144F5779C12}"/>
              </a:ext>
            </a:extLst>
          </p:cNvPr>
          <p:cNvSpPr/>
          <p:nvPr/>
        </p:nvSpPr>
        <p:spPr>
          <a:xfrm>
            <a:off x="594360" y="813816"/>
            <a:ext cx="10058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ML MODELS TO COORDINATED MULTI-AGENTS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6DB80A-2416-3FB1-9858-FBC12E9D143D}"/>
              </a:ext>
            </a:extLst>
          </p:cNvPr>
          <p:cNvSpPr/>
          <p:nvPr/>
        </p:nvSpPr>
        <p:spPr>
          <a:xfrm>
            <a:off x="548640" y="224028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7F3F1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CC05ED-FFE2-313F-DEEC-3F00F52BC76F}"/>
              </a:ext>
            </a:extLst>
          </p:cNvPr>
          <p:cNvSpPr/>
          <p:nvPr/>
        </p:nvSpPr>
        <p:spPr>
          <a:xfrm>
            <a:off x="8229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50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MODELS &amp; RULE EDITS — WHERE THEY BREAK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C63CF8-3BB2-FFAD-0E2C-59CA1516F9DF}"/>
              </a:ext>
            </a:extLst>
          </p:cNvPr>
          <p:cNvSpPr/>
          <p:nvPr/>
        </p:nvSpPr>
        <p:spPr>
          <a:xfrm>
            <a:off x="82296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3B479AC-3666-D94B-97D7-0FD2D9F84427}"/>
              </a:ext>
            </a:extLst>
          </p:cNvPr>
          <p:cNvSpPr/>
          <p:nvPr/>
        </p:nvSpPr>
        <p:spPr>
          <a:xfrm>
            <a:off x="1143000" y="30449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Recall-tuned classifiers flood investigators with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without adversarial checks, errors propagate.</a:t>
            </a: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85DC468-3A73-FE2E-63D9-6609A690C594}"/>
              </a:ext>
            </a:extLst>
          </p:cNvPr>
          <p:cNvSpPr/>
          <p:nvPr/>
        </p:nvSpPr>
        <p:spPr>
          <a:xfrm>
            <a:off x="8229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7FF6FA-44B3-187D-52D2-B2367C935A91}"/>
              </a:ext>
            </a:extLst>
          </p:cNvPr>
          <p:cNvSpPr/>
          <p:nvPr/>
        </p:nvSpPr>
        <p:spPr>
          <a:xfrm>
            <a:off x="1143000" y="39136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only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claims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isolated provider profiles and no network view.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91AEE5-5A21-A44D-4FEA-99E07408EFFC}"/>
              </a:ext>
            </a:extLst>
          </p:cNvPr>
          <p:cNvSpPr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010E7C-692B-222C-A05E-706A6913E48B}"/>
              </a:ext>
            </a:extLst>
          </p:cNvPr>
          <p:cNvSpPr/>
          <p:nvPr/>
        </p:nvSpPr>
        <p:spPr>
          <a:xfrm>
            <a:off x="1143000" y="47823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add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and data-leakage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without domain-specific guardrails.</a:t>
            </a:r>
            <a:endParaRPr lang="en-US" sz="13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07853FF-DF91-862E-4F9D-2322F46414F8}"/>
              </a:ext>
            </a:extLst>
          </p:cNvPr>
          <p:cNvSpPr/>
          <p:nvPr/>
        </p:nvSpPr>
        <p:spPr>
          <a:xfrm>
            <a:off x="6260592" y="226314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060F8FE-CD66-3C40-44E9-C76ACBA13778}"/>
              </a:ext>
            </a:extLst>
          </p:cNvPr>
          <p:cNvSpPr/>
          <p:nvPr/>
        </p:nvSpPr>
        <p:spPr>
          <a:xfrm>
            <a:off x="6534912" y="254214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— WHAT CHANGES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69AD23-E4A2-40B3-818D-3BC5C7BC5C58}"/>
              </a:ext>
            </a:extLst>
          </p:cNvPr>
          <p:cNvSpPr/>
          <p:nvPr/>
        </p:nvSpPr>
        <p:spPr>
          <a:xfrm>
            <a:off x="6480048" y="3024705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CD47530-2182-186E-0A88-E6382AF8D7A6}"/>
              </a:ext>
            </a:extLst>
          </p:cNvPr>
          <p:cNvSpPr/>
          <p:nvPr/>
        </p:nvSpPr>
        <p:spPr>
          <a:xfrm>
            <a:off x="6754368" y="3051483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roles </a:t>
            </a: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decision process</a:t>
            </a: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emitting one number.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816FD91-21C3-D125-EB2F-16CF2F5FA66C}"/>
              </a:ext>
            </a:extLst>
          </p:cNvPr>
          <p:cNvSpPr/>
          <p:nvPr/>
        </p:nvSpPr>
        <p:spPr>
          <a:xfrm>
            <a:off x="6492240" y="3788229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68508E0-18AD-EB71-3C35-AE7AF2ECE2DC}"/>
              </a:ext>
            </a:extLst>
          </p:cNvPr>
          <p:cNvSpPr/>
          <p:nvPr/>
        </p:nvSpPr>
        <p:spPr>
          <a:xfrm>
            <a:off x="6754368" y="381293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 map network topology and </a:t>
            </a: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routing</a:t>
            </a: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physicians, policies, and suppliers.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90E6A05-B520-1DA5-AA54-02460A7AB3F6}"/>
              </a:ext>
            </a:extLst>
          </p:cNvPr>
          <p:cNvSpPr/>
          <p:nvPr/>
        </p:nvSpPr>
        <p:spPr>
          <a:xfrm>
            <a:off x="6480048" y="4702629"/>
            <a:ext cx="274320" cy="454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9196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A1C88-6BEF-A3A2-5524-80023082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5DAF77-EC63-B0C9-A52C-B5D269FA30BF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PROPOSAL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F8B4FB-91BC-8181-B015-A0F7E4D7A530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7EB4DE-EE0F-2203-55F1-C055BB15349E}"/>
              </a:ext>
            </a:extLst>
          </p:cNvPr>
          <p:cNvSpPr/>
          <p:nvPr/>
        </p:nvSpPr>
        <p:spPr>
          <a:xfrm>
            <a:off x="594360" y="813816"/>
            <a:ext cx="10058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ML MODELS TO COORDINATED MULTI-AGENTS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CBFF42-6C61-877E-F916-8B5225A54A02}"/>
              </a:ext>
            </a:extLst>
          </p:cNvPr>
          <p:cNvSpPr/>
          <p:nvPr/>
        </p:nvSpPr>
        <p:spPr>
          <a:xfrm>
            <a:off x="548640" y="224028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7F3F1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432C07-5DCD-C9B9-64BB-89F5BB3C2846}"/>
              </a:ext>
            </a:extLst>
          </p:cNvPr>
          <p:cNvSpPr/>
          <p:nvPr/>
        </p:nvSpPr>
        <p:spPr>
          <a:xfrm>
            <a:off x="8229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50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MODELS &amp; RULE EDITS — WHERE THEY BREAK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7F13CC-0E96-29C0-C568-0C5C072CBCD2}"/>
              </a:ext>
            </a:extLst>
          </p:cNvPr>
          <p:cNvSpPr/>
          <p:nvPr/>
        </p:nvSpPr>
        <p:spPr>
          <a:xfrm>
            <a:off x="82296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3ACD460-8A69-527F-78BF-666D36B981B2}"/>
              </a:ext>
            </a:extLst>
          </p:cNvPr>
          <p:cNvSpPr/>
          <p:nvPr/>
        </p:nvSpPr>
        <p:spPr>
          <a:xfrm>
            <a:off x="1143000" y="30449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Recall-tuned classifiers flood investigators with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without adversarial checks, errors propagate.</a:t>
            </a: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C3F975F-5C62-B1F4-95BA-6504A6DF7439}"/>
              </a:ext>
            </a:extLst>
          </p:cNvPr>
          <p:cNvSpPr/>
          <p:nvPr/>
        </p:nvSpPr>
        <p:spPr>
          <a:xfrm>
            <a:off x="8229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49A7CF-780A-1541-14FD-854D4794BA54}"/>
              </a:ext>
            </a:extLst>
          </p:cNvPr>
          <p:cNvSpPr/>
          <p:nvPr/>
        </p:nvSpPr>
        <p:spPr>
          <a:xfrm>
            <a:off x="1143000" y="39136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only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claims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isolated provider profiles and no network view.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C651D5-253C-F0AB-6F82-2ACEFAF0F7A4}"/>
              </a:ext>
            </a:extLst>
          </p:cNvPr>
          <p:cNvSpPr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7E201C-627C-08BD-ED2D-9BCF1AF29A90}"/>
              </a:ext>
            </a:extLst>
          </p:cNvPr>
          <p:cNvSpPr/>
          <p:nvPr/>
        </p:nvSpPr>
        <p:spPr>
          <a:xfrm>
            <a:off x="1143000" y="478231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add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and data-leakage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without domain-specific guardrails.</a:t>
            </a:r>
            <a:endParaRPr lang="en-US" sz="13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E5958C6-5CD0-B0C2-BEC8-C066ED07D62C}"/>
              </a:ext>
            </a:extLst>
          </p:cNvPr>
          <p:cNvSpPr/>
          <p:nvPr/>
        </p:nvSpPr>
        <p:spPr>
          <a:xfrm>
            <a:off x="6260592" y="226314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C9EA99-D8F8-ACC1-0D48-500745FC6C82}"/>
              </a:ext>
            </a:extLst>
          </p:cNvPr>
          <p:cNvSpPr/>
          <p:nvPr/>
        </p:nvSpPr>
        <p:spPr>
          <a:xfrm>
            <a:off x="6534912" y="254214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— WHAT CHANGES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767B9D-A117-7516-FD42-DB17A76D1255}"/>
              </a:ext>
            </a:extLst>
          </p:cNvPr>
          <p:cNvSpPr/>
          <p:nvPr/>
        </p:nvSpPr>
        <p:spPr>
          <a:xfrm>
            <a:off x="6480048" y="3024705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38AC324-E135-CD4E-37E3-0470D3513EFA}"/>
              </a:ext>
            </a:extLst>
          </p:cNvPr>
          <p:cNvSpPr/>
          <p:nvPr/>
        </p:nvSpPr>
        <p:spPr>
          <a:xfrm>
            <a:off x="6754368" y="3051483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roles </a:t>
            </a: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decision process</a:t>
            </a: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emitting one number.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6A5E28D-DCFC-FA32-7834-345B594D0A54}"/>
              </a:ext>
            </a:extLst>
          </p:cNvPr>
          <p:cNvSpPr/>
          <p:nvPr/>
        </p:nvSpPr>
        <p:spPr>
          <a:xfrm>
            <a:off x="6492240" y="3788229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A2DBDA2-2CA0-2633-190E-892D3D55B99C}"/>
              </a:ext>
            </a:extLst>
          </p:cNvPr>
          <p:cNvSpPr/>
          <p:nvPr/>
        </p:nvSpPr>
        <p:spPr>
          <a:xfrm>
            <a:off x="6754368" y="381293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 map network topology and </a:t>
            </a: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routing</a:t>
            </a: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physicians, policies, and suppliers.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2610400-2E3E-ED6A-F606-EC2C97C2F18E}"/>
              </a:ext>
            </a:extLst>
          </p:cNvPr>
          <p:cNvSpPr/>
          <p:nvPr/>
        </p:nvSpPr>
        <p:spPr>
          <a:xfrm>
            <a:off x="6480048" y="4702629"/>
            <a:ext cx="274320" cy="454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4ADAFB7-A2A9-F603-344B-FD56AB84099D}"/>
              </a:ext>
            </a:extLst>
          </p:cNvPr>
          <p:cNvSpPr/>
          <p:nvPr/>
        </p:nvSpPr>
        <p:spPr>
          <a:xfrm>
            <a:off x="6766560" y="473659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tiers and </a:t>
            </a: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reasoning</a:t>
            </a:r>
            <a:r>
              <a:rPr lang="en-US" sz="13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 noise into actionable intelligence.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11856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claim moves </a:t>
            </a:r>
            <a:r>
              <a:rPr lang="en-US" sz="30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proposed agentic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6364" y="35158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Enters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74520" y="32004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A8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84248" y="3273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346923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3738067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fast or deep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23317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78808" y="2404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69080" y="2549347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76697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unbundling · duplicates · units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3310128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BE7A2B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78808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69080" y="3527755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74538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on date of service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4288536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78808" y="43616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9080" y="450616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472379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vs true peers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12280" y="32004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A8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22008" y="3273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346923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738067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dollars · action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15400" y="297180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BFAF4"/>
          </a:solidFill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15400" y="3063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70848" y="3310128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12700">
            <a:solidFill>
              <a:srgbClr val="C6D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26296" y="3456432"/>
            <a:ext cx="91440" cy="91440"/>
          </a:xfrm>
          <a:prstGeom prst="ellipse">
            <a:avLst/>
          </a:prstGeom>
          <a:solidFill>
            <a:srgbClr val="3C8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72600" y="33101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C81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70848" y="370332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6ECDC"/>
          </a:solidFill>
          <a:ln w="12700">
            <a:solidFill>
              <a:srgbClr val="E7D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226296" y="3849624"/>
            <a:ext cx="91440" cy="91440"/>
          </a:xfrm>
          <a:prstGeom prst="ellipse">
            <a:avLst/>
          </a:prstGeom>
          <a:solidFill>
            <a:srgbClr val="BE7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372600" y="37033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BE7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70848" y="4096512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4E6E2"/>
          </a:solidFill>
          <a:ln w="12700">
            <a:solidFill>
              <a:srgbClr val="E6C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226296" y="4242816"/>
            <a:ext cx="91440" cy="91440"/>
          </a:xfrm>
          <a:prstGeom prst="ellipse">
            <a:avLst/>
          </a:prstGeom>
          <a:solidFill>
            <a:srgbClr val="AF4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372600" y="40965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AF4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554480" y="3675888"/>
            <a:ext cx="320040" cy="0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3566160" y="2715768"/>
            <a:ext cx="502920" cy="941832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566160" y="3675888"/>
            <a:ext cx="502920" cy="18288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566160" y="3694176"/>
            <a:ext cx="502920" cy="978408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09360" y="2715768"/>
            <a:ext cx="502920" cy="941832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flipV="1">
            <a:off x="6309360" y="3675888"/>
            <a:ext cx="502920" cy="18288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V="1">
            <a:off x="6309360" y="3694176"/>
            <a:ext cx="502920" cy="978408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503920" y="3675888"/>
            <a:ext cx="411480" cy="0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15768" y="5440680"/>
            <a:ext cx="4965192" cy="0"/>
          </a:xfrm>
          <a:prstGeom prst="line">
            <a:avLst/>
          </a:prstGeom>
          <a:noFill/>
          <a:ln w="19050">
            <a:solidFill>
              <a:srgbClr val="C9B7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0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7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path, simple, low-risk claims skip deep review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triages: routine claims take the fast path; risky ones get the full agent review. The reviewer turns findings into one action and routes large claims to a person.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AGENTS, FIVE JOBS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</a:t>
            </a:r>
            <a:r>
              <a:rPr lang="en-US" sz="30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</a:t>
            </a: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shows its 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 provider’s baseline risk and decides how hard to look at the claim.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 prior + OIG-LEIE check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07208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08376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08376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08376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coding errors: unbundling, duplicate lines, impossible unit counts.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08376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edit rules (NCCI)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65776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66944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66944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66944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service against the coverage policy that applied on the date of service.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66944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66944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E7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GraphRAG retrieval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24344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25512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25512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25512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charge to the provider’s real peers, not a global average.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25512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25512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· specialty × code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82912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840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84080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findings into a risk score, dollars at risk, and one action.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84080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84080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scoring + human review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where rules are exact. Retrieval where meaning matters. Statistics where peer behavior matters. No single method has to do everything.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56DD5-98A9-CE7A-7268-32235796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60C7FE-6AD2-85DF-9EEB-503955764601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AGENTS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F106C4-F7CE-0F1F-A56E-887E01610A36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CB4983-C3DC-19B7-FF4C-4FD0D678DAAF}"/>
              </a:ext>
            </a:extLst>
          </p:cNvPr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AGENTS, FIVE JOBS</a:t>
            </a:r>
            <a:endParaRPr lang="en-US"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988400-70AF-C5AA-87D2-8EC316FD4F34}"/>
              </a:ext>
            </a:extLst>
          </p:cNvPr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</a:t>
            </a:r>
            <a:r>
              <a:rPr lang="en-US" sz="30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</a:t>
            </a: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shows its work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78BC23F-4905-5E21-9603-4E0CB6B7202C}"/>
              </a:ext>
            </a:extLst>
          </p:cNvPr>
          <p:cNvSpPr/>
          <p:nvPr/>
        </p:nvSpPr>
        <p:spPr>
          <a:xfrm>
            <a:off x="548640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D85746-089E-F518-ED48-CEF3F6912843}"/>
              </a:ext>
            </a:extLst>
          </p:cNvPr>
          <p:cNvSpPr/>
          <p:nvPr/>
        </p:nvSpPr>
        <p:spPr>
          <a:xfrm>
            <a:off x="749808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6A987E-B73A-D574-19BB-89A7F9070857}"/>
              </a:ext>
            </a:extLst>
          </p:cNvPr>
          <p:cNvSpPr/>
          <p:nvPr/>
        </p:nvSpPr>
        <p:spPr>
          <a:xfrm>
            <a:off x="749808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DF81325-BA77-FFD5-914A-93CDDE17F970}"/>
              </a:ext>
            </a:extLst>
          </p:cNvPr>
          <p:cNvSpPr/>
          <p:nvPr/>
        </p:nvSpPr>
        <p:spPr>
          <a:xfrm>
            <a:off x="749808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 provider’s baseline risk and decides how hard to look at the claim.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77C8167-1FE6-4449-83BF-90B3B8F8DCAE}"/>
              </a:ext>
            </a:extLst>
          </p:cNvPr>
          <p:cNvSpPr/>
          <p:nvPr/>
        </p:nvSpPr>
        <p:spPr>
          <a:xfrm>
            <a:off x="749808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C4D301E-9F3F-7BA9-B142-F80209820344}"/>
              </a:ext>
            </a:extLst>
          </p:cNvPr>
          <p:cNvSpPr/>
          <p:nvPr/>
        </p:nvSpPr>
        <p:spPr>
          <a:xfrm>
            <a:off x="749808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 prior + OIG-LEIE check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7CEECCF-C686-951B-420C-C356B883494C}"/>
              </a:ext>
            </a:extLst>
          </p:cNvPr>
          <p:cNvSpPr/>
          <p:nvPr/>
        </p:nvSpPr>
        <p:spPr>
          <a:xfrm>
            <a:off x="2807208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B59C4D5-39B5-FE5D-229C-C3FCA0D6AA70}"/>
              </a:ext>
            </a:extLst>
          </p:cNvPr>
          <p:cNvSpPr/>
          <p:nvPr/>
        </p:nvSpPr>
        <p:spPr>
          <a:xfrm>
            <a:off x="3008376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71DC60-CC1F-EF2C-1DF4-CCDD424E100E}"/>
              </a:ext>
            </a:extLst>
          </p:cNvPr>
          <p:cNvSpPr/>
          <p:nvPr/>
        </p:nvSpPr>
        <p:spPr>
          <a:xfrm>
            <a:off x="3008376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B511C72-C84C-2DFC-F627-0CA4EB65825E}"/>
              </a:ext>
            </a:extLst>
          </p:cNvPr>
          <p:cNvSpPr/>
          <p:nvPr/>
        </p:nvSpPr>
        <p:spPr>
          <a:xfrm>
            <a:off x="3008376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coding errors: unbundling, duplicate lines, impossible unit counts.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E0A2848-0F49-9DE3-7808-705B1DFA43A8}"/>
              </a:ext>
            </a:extLst>
          </p:cNvPr>
          <p:cNvSpPr/>
          <p:nvPr/>
        </p:nvSpPr>
        <p:spPr>
          <a:xfrm>
            <a:off x="3008376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19744E5-72B3-6DCB-118B-31823241AAD6}"/>
              </a:ext>
            </a:extLst>
          </p:cNvPr>
          <p:cNvSpPr/>
          <p:nvPr/>
        </p:nvSpPr>
        <p:spPr>
          <a:xfrm>
            <a:off x="3008376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edit rules (NCCI)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8984B36-6C2E-463F-0300-A0D29A3AAEDE}"/>
              </a:ext>
            </a:extLst>
          </p:cNvPr>
          <p:cNvSpPr/>
          <p:nvPr/>
        </p:nvSpPr>
        <p:spPr>
          <a:xfrm>
            <a:off x="5065776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083951F-1CEA-BB18-26E6-2C8E1A195677}"/>
              </a:ext>
            </a:extLst>
          </p:cNvPr>
          <p:cNvSpPr/>
          <p:nvPr/>
        </p:nvSpPr>
        <p:spPr>
          <a:xfrm>
            <a:off x="5266944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BE6E089-36F8-5A7A-BB03-DF9BA662A064}"/>
              </a:ext>
            </a:extLst>
          </p:cNvPr>
          <p:cNvSpPr/>
          <p:nvPr/>
        </p:nvSpPr>
        <p:spPr>
          <a:xfrm>
            <a:off x="5266944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85C5894-6B51-0334-180F-94FEC295523D}"/>
              </a:ext>
            </a:extLst>
          </p:cNvPr>
          <p:cNvSpPr/>
          <p:nvPr/>
        </p:nvSpPr>
        <p:spPr>
          <a:xfrm>
            <a:off x="5266944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service against the coverage policy that applied on the date of service.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FF2818C-E79F-1134-0F36-7882A7E54D9A}"/>
              </a:ext>
            </a:extLst>
          </p:cNvPr>
          <p:cNvSpPr/>
          <p:nvPr/>
        </p:nvSpPr>
        <p:spPr>
          <a:xfrm>
            <a:off x="5266944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99A0F5D-5058-14A5-F244-54C3D4706DE0}"/>
              </a:ext>
            </a:extLst>
          </p:cNvPr>
          <p:cNvSpPr/>
          <p:nvPr/>
        </p:nvSpPr>
        <p:spPr>
          <a:xfrm>
            <a:off x="5266944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E7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GraphRAG retrieval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5008D37-FAD3-4722-A327-24D890A03378}"/>
              </a:ext>
            </a:extLst>
          </p:cNvPr>
          <p:cNvSpPr/>
          <p:nvPr/>
        </p:nvSpPr>
        <p:spPr>
          <a:xfrm>
            <a:off x="7324344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AD6878E-443D-A1C7-2867-828629C8F877}"/>
              </a:ext>
            </a:extLst>
          </p:cNvPr>
          <p:cNvSpPr/>
          <p:nvPr/>
        </p:nvSpPr>
        <p:spPr>
          <a:xfrm>
            <a:off x="7525512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69E8342-E710-959D-05BE-44A9A30209BC}"/>
              </a:ext>
            </a:extLst>
          </p:cNvPr>
          <p:cNvSpPr/>
          <p:nvPr/>
        </p:nvSpPr>
        <p:spPr>
          <a:xfrm>
            <a:off x="7525512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5D01348-3300-9307-E814-2D6219207A74}"/>
              </a:ext>
            </a:extLst>
          </p:cNvPr>
          <p:cNvSpPr/>
          <p:nvPr/>
        </p:nvSpPr>
        <p:spPr>
          <a:xfrm>
            <a:off x="7525512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charge to the provider’s real peers, not a global average.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7258CDF-145B-D420-311A-8585CF553C7B}"/>
              </a:ext>
            </a:extLst>
          </p:cNvPr>
          <p:cNvSpPr/>
          <p:nvPr/>
        </p:nvSpPr>
        <p:spPr>
          <a:xfrm>
            <a:off x="7525512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C1997C1-D7EA-289B-1ED5-0EF8D70EFE1A}"/>
              </a:ext>
            </a:extLst>
          </p:cNvPr>
          <p:cNvSpPr/>
          <p:nvPr/>
        </p:nvSpPr>
        <p:spPr>
          <a:xfrm>
            <a:off x="7525512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· specialty × code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ABE74A2-FB3E-C08E-FDB5-AE80909561F0}"/>
              </a:ext>
            </a:extLst>
          </p:cNvPr>
          <p:cNvSpPr/>
          <p:nvPr/>
        </p:nvSpPr>
        <p:spPr>
          <a:xfrm>
            <a:off x="9582912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052B819-47AE-0DEF-3B20-26C103B2835A}"/>
              </a:ext>
            </a:extLst>
          </p:cNvPr>
          <p:cNvSpPr/>
          <p:nvPr/>
        </p:nvSpPr>
        <p:spPr>
          <a:xfrm>
            <a:off x="97840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B399FEE-2416-086C-4AD8-7CFBDC8261C4}"/>
              </a:ext>
            </a:extLst>
          </p:cNvPr>
          <p:cNvSpPr/>
          <p:nvPr/>
        </p:nvSpPr>
        <p:spPr>
          <a:xfrm>
            <a:off x="9784080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E02D98F-57D1-828E-A009-08BCEF188AEB}"/>
              </a:ext>
            </a:extLst>
          </p:cNvPr>
          <p:cNvSpPr/>
          <p:nvPr/>
        </p:nvSpPr>
        <p:spPr>
          <a:xfrm>
            <a:off x="9784080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findings into a risk score, dollars at risk, and one action.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5B19E9D-4450-E79F-CAE5-7AFFB3406141}"/>
              </a:ext>
            </a:extLst>
          </p:cNvPr>
          <p:cNvSpPr/>
          <p:nvPr/>
        </p:nvSpPr>
        <p:spPr>
          <a:xfrm>
            <a:off x="9784080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563F748-4E33-C05D-175A-3C3C1532D94F}"/>
              </a:ext>
            </a:extLst>
          </p:cNvPr>
          <p:cNvSpPr/>
          <p:nvPr/>
        </p:nvSpPr>
        <p:spPr>
          <a:xfrm>
            <a:off x="9784080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scoring + human review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6FECD10-CAE2-C8D0-F46C-444E729D89DD}"/>
              </a:ext>
            </a:extLst>
          </p:cNvPr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where rules are exact. Retrieval where meaning matters. Statistics where peer behavior matters. No single method has to do everything.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752161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B5A0-9E79-C463-F97E-1476FA70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84E1E7-A962-91B7-9B2C-42068BF9BFE9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AGENTS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29D47B-3353-F755-1B34-7C3A1A50AF5F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9FE2E2-54AC-66C4-4A78-B7CAFE9887A3}"/>
              </a:ext>
            </a:extLst>
          </p:cNvPr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AGENTS, FIVE JOBS</a:t>
            </a:r>
            <a:endParaRPr lang="en-US"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B55F0A-4B70-3F8F-4D95-F408E2AACF9F}"/>
              </a:ext>
            </a:extLst>
          </p:cNvPr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</a:t>
            </a:r>
            <a:r>
              <a:rPr lang="en-US" sz="30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</a:t>
            </a: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shows its work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A2F163-78A8-75D7-688E-E91BE57FB8E7}"/>
              </a:ext>
            </a:extLst>
          </p:cNvPr>
          <p:cNvSpPr/>
          <p:nvPr/>
        </p:nvSpPr>
        <p:spPr>
          <a:xfrm>
            <a:off x="548640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E3645B-C171-173E-4FC8-314016E2A8A8}"/>
              </a:ext>
            </a:extLst>
          </p:cNvPr>
          <p:cNvSpPr/>
          <p:nvPr/>
        </p:nvSpPr>
        <p:spPr>
          <a:xfrm>
            <a:off x="749808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8BB5E4-0D1A-93C7-8F7A-22C7FE870C9E}"/>
              </a:ext>
            </a:extLst>
          </p:cNvPr>
          <p:cNvSpPr/>
          <p:nvPr/>
        </p:nvSpPr>
        <p:spPr>
          <a:xfrm>
            <a:off x="749808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59C15A-6508-CC9F-7119-53A059A511E7}"/>
              </a:ext>
            </a:extLst>
          </p:cNvPr>
          <p:cNvSpPr/>
          <p:nvPr/>
        </p:nvSpPr>
        <p:spPr>
          <a:xfrm>
            <a:off x="749808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 provider’s baseline risk and decides how hard to look at the claim.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827727-83B5-B199-F498-6BCE1847A4EE}"/>
              </a:ext>
            </a:extLst>
          </p:cNvPr>
          <p:cNvSpPr/>
          <p:nvPr/>
        </p:nvSpPr>
        <p:spPr>
          <a:xfrm>
            <a:off x="749808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9EA2E7-9848-C792-BF9A-962FC1639568}"/>
              </a:ext>
            </a:extLst>
          </p:cNvPr>
          <p:cNvSpPr/>
          <p:nvPr/>
        </p:nvSpPr>
        <p:spPr>
          <a:xfrm>
            <a:off x="749808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 prior + OIG-LEIE check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EE9B3E3-D6F9-E8A1-113C-9921D76A4CA6}"/>
              </a:ext>
            </a:extLst>
          </p:cNvPr>
          <p:cNvSpPr/>
          <p:nvPr/>
        </p:nvSpPr>
        <p:spPr>
          <a:xfrm>
            <a:off x="2807208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56771E-1A40-D185-2F51-6C87982524D6}"/>
              </a:ext>
            </a:extLst>
          </p:cNvPr>
          <p:cNvSpPr/>
          <p:nvPr/>
        </p:nvSpPr>
        <p:spPr>
          <a:xfrm>
            <a:off x="3008376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67FD160-53E8-DB97-7BC5-33037F7D4EBA}"/>
              </a:ext>
            </a:extLst>
          </p:cNvPr>
          <p:cNvSpPr/>
          <p:nvPr/>
        </p:nvSpPr>
        <p:spPr>
          <a:xfrm>
            <a:off x="3008376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AF58F5-FAB0-13DE-ED5E-3DA1C4203796}"/>
              </a:ext>
            </a:extLst>
          </p:cNvPr>
          <p:cNvSpPr/>
          <p:nvPr/>
        </p:nvSpPr>
        <p:spPr>
          <a:xfrm>
            <a:off x="3008376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coding errors: unbundling, duplicate lines, impossible unit counts.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C5F1C6B-3FC2-640C-2863-5CDDDF73E77D}"/>
              </a:ext>
            </a:extLst>
          </p:cNvPr>
          <p:cNvSpPr/>
          <p:nvPr/>
        </p:nvSpPr>
        <p:spPr>
          <a:xfrm>
            <a:off x="3008376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1FE8CA6-310A-2845-A783-154147ED987A}"/>
              </a:ext>
            </a:extLst>
          </p:cNvPr>
          <p:cNvSpPr/>
          <p:nvPr/>
        </p:nvSpPr>
        <p:spPr>
          <a:xfrm>
            <a:off x="3008376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edit rules (NCCI)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4609776-D0D0-7FD2-00E5-AE2724EB8C3F}"/>
              </a:ext>
            </a:extLst>
          </p:cNvPr>
          <p:cNvSpPr/>
          <p:nvPr/>
        </p:nvSpPr>
        <p:spPr>
          <a:xfrm>
            <a:off x="5065776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010D33A-275B-FA8F-7E59-3D4E25633A56}"/>
              </a:ext>
            </a:extLst>
          </p:cNvPr>
          <p:cNvSpPr/>
          <p:nvPr/>
        </p:nvSpPr>
        <p:spPr>
          <a:xfrm>
            <a:off x="5266944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D8281E3-E654-3EBD-114E-367A1D8FDC3F}"/>
              </a:ext>
            </a:extLst>
          </p:cNvPr>
          <p:cNvSpPr/>
          <p:nvPr/>
        </p:nvSpPr>
        <p:spPr>
          <a:xfrm>
            <a:off x="5266944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EF7C06D-2C30-C9CB-3A1E-4F4B927CF5B3}"/>
              </a:ext>
            </a:extLst>
          </p:cNvPr>
          <p:cNvSpPr/>
          <p:nvPr/>
        </p:nvSpPr>
        <p:spPr>
          <a:xfrm>
            <a:off x="5266944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service against the coverage policy that applied on the date of service.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D8CD5DC-E626-EF03-1C66-8793755E4513}"/>
              </a:ext>
            </a:extLst>
          </p:cNvPr>
          <p:cNvSpPr/>
          <p:nvPr/>
        </p:nvSpPr>
        <p:spPr>
          <a:xfrm>
            <a:off x="5266944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24B17AC-4C30-A0CB-B220-75A74E825941}"/>
              </a:ext>
            </a:extLst>
          </p:cNvPr>
          <p:cNvSpPr/>
          <p:nvPr/>
        </p:nvSpPr>
        <p:spPr>
          <a:xfrm>
            <a:off x="5266944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E7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GraphRAG retrieval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F316F7F-68DB-D21F-F263-470FA59D03CA}"/>
              </a:ext>
            </a:extLst>
          </p:cNvPr>
          <p:cNvSpPr/>
          <p:nvPr/>
        </p:nvSpPr>
        <p:spPr>
          <a:xfrm>
            <a:off x="7324344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6A15FCE-8744-F4B5-528D-A5D60B507493}"/>
              </a:ext>
            </a:extLst>
          </p:cNvPr>
          <p:cNvSpPr/>
          <p:nvPr/>
        </p:nvSpPr>
        <p:spPr>
          <a:xfrm>
            <a:off x="7525512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A403CF9-9C1E-AE8D-778A-D3AACF3A8F6F}"/>
              </a:ext>
            </a:extLst>
          </p:cNvPr>
          <p:cNvSpPr/>
          <p:nvPr/>
        </p:nvSpPr>
        <p:spPr>
          <a:xfrm>
            <a:off x="7525512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1B945FB-43B8-ED71-5A38-79094530ED80}"/>
              </a:ext>
            </a:extLst>
          </p:cNvPr>
          <p:cNvSpPr/>
          <p:nvPr/>
        </p:nvSpPr>
        <p:spPr>
          <a:xfrm>
            <a:off x="7525512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charge to the provider’s real peers, not a global average.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FAFF7F0-0975-AC60-8639-4B5E9934B419}"/>
              </a:ext>
            </a:extLst>
          </p:cNvPr>
          <p:cNvSpPr/>
          <p:nvPr/>
        </p:nvSpPr>
        <p:spPr>
          <a:xfrm>
            <a:off x="7525512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AD9D0BB-7208-F64C-A284-7F8F4937DF88}"/>
              </a:ext>
            </a:extLst>
          </p:cNvPr>
          <p:cNvSpPr/>
          <p:nvPr/>
        </p:nvSpPr>
        <p:spPr>
          <a:xfrm>
            <a:off x="7525512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· specialty × code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E102335-DAD0-F199-750A-14B913AEBBDD}"/>
              </a:ext>
            </a:extLst>
          </p:cNvPr>
          <p:cNvSpPr/>
          <p:nvPr/>
        </p:nvSpPr>
        <p:spPr>
          <a:xfrm>
            <a:off x="9582912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FB4AFF3-E7CE-A59F-EFF0-BED6FFD5DA95}"/>
              </a:ext>
            </a:extLst>
          </p:cNvPr>
          <p:cNvSpPr/>
          <p:nvPr/>
        </p:nvSpPr>
        <p:spPr>
          <a:xfrm>
            <a:off x="97840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E3FC5E8-4691-6A80-37F4-1E15D6D2B244}"/>
              </a:ext>
            </a:extLst>
          </p:cNvPr>
          <p:cNvSpPr/>
          <p:nvPr/>
        </p:nvSpPr>
        <p:spPr>
          <a:xfrm>
            <a:off x="9784080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C685E83-08E8-9664-CD95-5A674E4F93A4}"/>
              </a:ext>
            </a:extLst>
          </p:cNvPr>
          <p:cNvSpPr/>
          <p:nvPr/>
        </p:nvSpPr>
        <p:spPr>
          <a:xfrm>
            <a:off x="9784080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findings into a risk score, dollars at risk, and one action.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24BCD76-80FC-7AA8-0A90-041A7D673D2F}"/>
              </a:ext>
            </a:extLst>
          </p:cNvPr>
          <p:cNvSpPr/>
          <p:nvPr/>
        </p:nvSpPr>
        <p:spPr>
          <a:xfrm>
            <a:off x="9784080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70A81BD-10BE-C6E8-EF8B-20E6F7A5FA8B}"/>
              </a:ext>
            </a:extLst>
          </p:cNvPr>
          <p:cNvSpPr/>
          <p:nvPr/>
        </p:nvSpPr>
        <p:spPr>
          <a:xfrm>
            <a:off x="9784080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scoring + human review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9B6A71F-40A1-B03D-0949-A9AD6540CE6C}"/>
              </a:ext>
            </a:extLst>
          </p:cNvPr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where rules are exact. Retrieval where meaning matters. Statistics where peer behavior matters. No single method has to do everything.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702098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9783-F91A-B872-A8D7-AEBB13DDC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07B8C9-1F8E-79CD-65A8-E05E341A50F1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AGENTS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42894E-E610-5113-FBCA-F52541AE61D2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18363B-9593-7700-1A23-2E124D45E705}"/>
              </a:ext>
            </a:extLst>
          </p:cNvPr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AGENTS, FIVE JOBS</a:t>
            </a:r>
            <a:endParaRPr lang="en-US"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9EBC00-B868-1313-31EF-B811DFF735C2}"/>
              </a:ext>
            </a:extLst>
          </p:cNvPr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</a:t>
            </a:r>
            <a:r>
              <a:rPr lang="en-US" sz="30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</a:t>
            </a: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shows its work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2FF64C-C1A8-3DE7-C870-F00301709598}"/>
              </a:ext>
            </a:extLst>
          </p:cNvPr>
          <p:cNvSpPr/>
          <p:nvPr/>
        </p:nvSpPr>
        <p:spPr>
          <a:xfrm>
            <a:off x="548640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AC95F3-3DBD-E039-C748-1999EC75F572}"/>
              </a:ext>
            </a:extLst>
          </p:cNvPr>
          <p:cNvSpPr/>
          <p:nvPr/>
        </p:nvSpPr>
        <p:spPr>
          <a:xfrm>
            <a:off x="749808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C8C81E-71F5-9E34-1B54-763DC6B6A880}"/>
              </a:ext>
            </a:extLst>
          </p:cNvPr>
          <p:cNvSpPr/>
          <p:nvPr/>
        </p:nvSpPr>
        <p:spPr>
          <a:xfrm>
            <a:off x="749808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EA2132-4661-4BA7-A441-7347C2E271BF}"/>
              </a:ext>
            </a:extLst>
          </p:cNvPr>
          <p:cNvSpPr/>
          <p:nvPr/>
        </p:nvSpPr>
        <p:spPr>
          <a:xfrm>
            <a:off x="749808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 provider’s baseline risk and decides how hard to look at the claim.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459EA93-6267-F78A-85E6-E6A5909B60CA}"/>
              </a:ext>
            </a:extLst>
          </p:cNvPr>
          <p:cNvSpPr/>
          <p:nvPr/>
        </p:nvSpPr>
        <p:spPr>
          <a:xfrm>
            <a:off x="749808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761B3AB-B03A-F1A7-438F-8136C9B097C6}"/>
              </a:ext>
            </a:extLst>
          </p:cNvPr>
          <p:cNvSpPr/>
          <p:nvPr/>
        </p:nvSpPr>
        <p:spPr>
          <a:xfrm>
            <a:off x="749808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 prior + OIG-LEIE check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83FC92E-6D6B-FB36-41EF-797EBFB3D69D}"/>
              </a:ext>
            </a:extLst>
          </p:cNvPr>
          <p:cNvSpPr/>
          <p:nvPr/>
        </p:nvSpPr>
        <p:spPr>
          <a:xfrm>
            <a:off x="2807208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00B9167-61F2-6DAB-2D3C-54A090CE47EA}"/>
              </a:ext>
            </a:extLst>
          </p:cNvPr>
          <p:cNvSpPr/>
          <p:nvPr/>
        </p:nvSpPr>
        <p:spPr>
          <a:xfrm>
            <a:off x="3008376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9F5BE9-BB96-1323-F1FE-C46FA4438332}"/>
              </a:ext>
            </a:extLst>
          </p:cNvPr>
          <p:cNvSpPr/>
          <p:nvPr/>
        </p:nvSpPr>
        <p:spPr>
          <a:xfrm>
            <a:off x="3008376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1E4726-DCD0-2612-5E95-822CE137105D}"/>
              </a:ext>
            </a:extLst>
          </p:cNvPr>
          <p:cNvSpPr/>
          <p:nvPr/>
        </p:nvSpPr>
        <p:spPr>
          <a:xfrm>
            <a:off x="3008376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coding errors: unbundling, duplicate lines, impossible unit counts.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CCD3DBE-7B83-C011-D98A-BC5B235214D4}"/>
              </a:ext>
            </a:extLst>
          </p:cNvPr>
          <p:cNvSpPr/>
          <p:nvPr/>
        </p:nvSpPr>
        <p:spPr>
          <a:xfrm>
            <a:off x="3008376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F3B731F-93B3-F7EF-4134-A397B81A4EA2}"/>
              </a:ext>
            </a:extLst>
          </p:cNvPr>
          <p:cNvSpPr/>
          <p:nvPr/>
        </p:nvSpPr>
        <p:spPr>
          <a:xfrm>
            <a:off x="3008376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edit rules (NCCI)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9285934-0991-735E-857D-B382A70BC522}"/>
              </a:ext>
            </a:extLst>
          </p:cNvPr>
          <p:cNvSpPr/>
          <p:nvPr/>
        </p:nvSpPr>
        <p:spPr>
          <a:xfrm>
            <a:off x="5065776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04FFAEE-EB16-E2A5-8065-1200E376291F}"/>
              </a:ext>
            </a:extLst>
          </p:cNvPr>
          <p:cNvSpPr/>
          <p:nvPr/>
        </p:nvSpPr>
        <p:spPr>
          <a:xfrm>
            <a:off x="5266944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769697E-4C79-FA88-155C-34AAE32BEC07}"/>
              </a:ext>
            </a:extLst>
          </p:cNvPr>
          <p:cNvSpPr/>
          <p:nvPr/>
        </p:nvSpPr>
        <p:spPr>
          <a:xfrm>
            <a:off x="5266944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A2AD167-04D8-A2A5-31B5-AFECDD58ADAB}"/>
              </a:ext>
            </a:extLst>
          </p:cNvPr>
          <p:cNvSpPr/>
          <p:nvPr/>
        </p:nvSpPr>
        <p:spPr>
          <a:xfrm>
            <a:off x="5266944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service against the coverage policy that applied on the date of service.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B7CAC61-1297-9BC3-56D9-1B0285173F4F}"/>
              </a:ext>
            </a:extLst>
          </p:cNvPr>
          <p:cNvSpPr/>
          <p:nvPr/>
        </p:nvSpPr>
        <p:spPr>
          <a:xfrm>
            <a:off x="5266944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9C9A3D9-22D0-AF43-F156-FB055FBEE273}"/>
              </a:ext>
            </a:extLst>
          </p:cNvPr>
          <p:cNvSpPr/>
          <p:nvPr/>
        </p:nvSpPr>
        <p:spPr>
          <a:xfrm>
            <a:off x="5266944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E7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GraphRAG retrieval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92644B9-318B-002F-A17C-A690CECF5B31}"/>
              </a:ext>
            </a:extLst>
          </p:cNvPr>
          <p:cNvSpPr/>
          <p:nvPr/>
        </p:nvSpPr>
        <p:spPr>
          <a:xfrm>
            <a:off x="7324344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6952211-D561-0C7E-BBF8-78B9EE4C66E7}"/>
              </a:ext>
            </a:extLst>
          </p:cNvPr>
          <p:cNvSpPr/>
          <p:nvPr/>
        </p:nvSpPr>
        <p:spPr>
          <a:xfrm>
            <a:off x="7525512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B48ADC9-E517-6183-BFD3-B6D34A94C8DD}"/>
              </a:ext>
            </a:extLst>
          </p:cNvPr>
          <p:cNvSpPr/>
          <p:nvPr/>
        </p:nvSpPr>
        <p:spPr>
          <a:xfrm>
            <a:off x="7525512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F2737ED-C0A3-DC2F-9A81-692DBB949E62}"/>
              </a:ext>
            </a:extLst>
          </p:cNvPr>
          <p:cNvSpPr/>
          <p:nvPr/>
        </p:nvSpPr>
        <p:spPr>
          <a:xfrm>
            <a:off x="7525512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charge to the provider’s real peers, not a global average.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0AB23A0-D215-9AD4-37AE-E278F716CBE7}"/>
              </a:ext>
            </a:extLst>
          </p:cNvPr>
          <p:cNvSpPr/>
          <p:nvPr/>
        </p:nvSpPr>
        <p:spPr>
          <a:xfrm>
            <a:off x="7525512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8663603-D42F-C717-E37F-2CEB414BCBA5}"/>
              </a:ext>
            </a:extLst>
          </p:cNvPr>
          <p:cNvSpPr/>
          <p:nvPr/>
        </p:nvSpPr>
        <p:spPr>
          <a:xfrm>
            <a:off x="7525512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· specialty × code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5B89241-2624-4B26-74BB-0293C2406F24}"/>
              </a:ext>
            </a:extLst>
          </p:cNvPr>
          <p:cNvSpPr/>
          <p:nvPr/>
        </p:nvSpPr>
        <p:spPr>
          <a:xfrm>
            <a:off x="9582912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79DFB75-3DDB-03C1-2A5D-FEAF848508AE}"/>
              </a:ext>
            </a:extLst>
          </p:cNvPr>
          <p:cNvSpPr/>
          <p:nvPr/>
        </p:nvSpPr>
        <p:spPr>
          <a:xfrm>
            <a:off x="97840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3B2F82E-C140-ED10-8547-8A66A6CEEFC5}"/>
              </a:ext>
            </a:extLst>
          </p:cNvPr>
          <p:cNvSpPr/>
          <p:nvPr/>
        </p:nvSpPr>
        <p:spPr>
          <a:xfrm>
            <a:off x="9784080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44E54AC-C496-1F39-B5ED-53C86B8E90FA}"/>
              </a:ext>
            </a:extLst>
          </p:cNvPr>
          <p:cNvSpPr/>
          <p:nvPr/>
        </p:nvSpPr>
        <p:spPr>
          <a:xfrm>
            <a:off x="9784080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findings into a risk score, dollars at risk, and one action.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BA8482B-1B78-CC96-412B-052569AFC8A2}"/>
              </a:ext>
            </a:extLst>
          </p:cNvPr>
          <p:cNvSpPr/>
          <p:nvPr/>
        </p:nvSpPr>
        <p:spPr>
          <a:xfrm>
            <a:off x="9784080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D344A87-A2F3-E5E1-F3AC-D5647A08FED3}"/>
              </a:ext>
            </a:extLst>
          </p:cNvPr>
          <p:cNvSpPr/>
          <p:nvPr/>
        </p:nvSpPr>
        <p:spPr>
          <a:xfrm>
            <a:off x="9784080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scoring + human review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DED033C-2146-927B-C7C6-FAA084B41AC5}"/>
              </a:ext>
            </a:extLst>
          </p:cNvPr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where rules are exact. Retrieval where meaning matters. Statistics where peer behavior matters. No single method has to do everything.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146498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9DB4-779F-EE12-D8AD-C54ED218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861CC9-CEFA-3039-2D2C-B1B38E58321C}"/>
              </a:ext>
            </a:extLst>
          </p:cNvPr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AGENTS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D5F59B-44A5-4CE0-C747-E44A9E7D2C5D}"/>
              </a:ext>
            </a:extLst>
          </p:cNvPr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4C5E96-10B9-542C-03B0-3E994EC4A121}"/>
              </a:ext>
            </a:extLst>
          </p:cNvPr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AGENTS, FIVE JOBS</a:t>
            </a:r>
            <a:endParaRPr lang="en-US"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86EAC0-F373-68D9-EF92-7C3CA72ADD29}"/>
              </a:ext>
            </a:extLst>
          </p:cNvPr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</a:t>
            </a:r>
            <a:r>
              <a:rPr lang="en-US" sz="30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</a:t>
            </a: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shows its work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6568B7-0E41-C6FA-8A7E-D5AF61128591}"/>
              </a:ext>
            </a:extLst>
          </p:cNvPr>
          <p:cNvSpPr/>
          <p:nvPr/>
        </p:nvSpPr>
        <p:spPr>
          <a:xfrm>
            <a:off x="548640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C63D10-DE10-DFFB-D736-93329BAE4BAB}"/>
              </a:ext>
            </a:extLst>
          </p:cNvPr>
          <p:cNvSpPr/>
          <p:nvPr/>
        </p:nvSpPr>
        <p:spPr>
          <a:xfrm>
            <a:off x="749808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E3CBB4-B145-FEE9-DDA0-FB192123CD0C}"/>
              </a:ext>
            </a:extLst>
          </p:cNvPr>
          <p:cNvSpPr/>
          <p:nvPr/>
        </p:nvSpPr>
        <p:spPr>
          <a:xfrm>
            <a:off x="749808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6D8D34-4FDC-9F9C-ECD5-EE83BCD6D49A}"/>
              </a:ext>
            </a:extLst>
          </p:cNvPr>
          <p:cNvSpPr/>
          <p:nvPr/>
        </p:nvSpPr>
        <p:spPr>
          <a:xfrm>
            <a:off x="749808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 provider’s baseline risk and decides how hard to look at the claim.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D9ECDC2-BEDE-E183-68A5-18F04D26A3FD}"/>
              </a:ext>
            </a:extLst>
          </p:cNvPr>
          <p:cNvSpPr/>
          <p:nvPr/>
        </p:nvSpPr>
        <p:spPr>
          <a:xfrm>
            <a:off x="749808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D0EDFFA-6034-B338-26B7-6421316DE850}"/>
              </a:ext>
            </a:extLst>
          </p:cNvPr>
          <p:cNvSpPr/>
          <p:nvPr/>
        </p:nvSpPr>
        <p:spPr>
          <a:xfrm>
            <a:off x="749808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 prior + OIG-LEIE check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E52AF80-B277-329D-F4A7-DFB36DDDA78A}"/>
              </a:ext>
            </a:extLst>
          </p:cNvPr>
          <p:cNvSpPr/>
          <p:nvPr/>
        </p:nvSpPr>
        <p:spPr>
          <a:xfrm>
            <a:off x="2807208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C69AF1-C23C-D5D7-9CAE-74B6DFB5709E}"/>
              </a:ext>
            </a:extLst>
          </p:cNvPr>
          <p:cNvSpPr/>
          <p:nvPr/>
        </p:nvSpPr>
        <p:spPr>
          <a:xfrm>
            <a:off x="3008376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36FA315-0F5D-9377-A238-E243FC82181B}"/>
              </a:ext>
            </a:extLst>
          </p:cNvPr>
          <p:cNvSpPr/>
          <p:nvPr/>
        </p:nvSpPr>
        <p:spPr>
          <a:xfrm>
            <a:off x="3008376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FE8CF3-3277-368D-37B6-DF57F70768FD}"/>
              </a:ext>
            </a:extLst>
          </p:cNvPr>
          <p:cNvSpPr/>
          <p:nvPr/>
        </p:nvSpPr>
        <p:spPr>
          <a:xfrm>
            <a:off x="3008376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coding errors: unbundling, duplicate lines, impossible unit counts.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2DA91B6-304F-8E3A-5F75-B59509E33832}"/>
              </a:ext>
            </a:extLst>
          </p:cNvPr>
          <p:cNvSpPr/>
          <p:nvPr/>
        </p:nvSpPr>
        <p:spPr>
          <a:xfrm>
            <a:off x="3008376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5055F65-A9F1-5CB9-CEDB-C51BE4783196}"/>
              </a:ext>
            </a:extLst>
          </p:cNvPr>
          <p:cNvSpPr/>
          <p:nvPr/>
        </p:nvSpPr>
        <p:spPr>
          <a:xfrm>
            <a:off x="3008376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edit rules (NCCI)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5DB492F-1A29-6595-F466-19E19A08F509}"/>
              </a:ext>
            </a:extLst>
          </p:cNvPr>
          <p:cNvSpPr/>
          <p:nvPr/>
        </p:nvSpPr>
        <p:spPr>
          <a:xfrm>
            <a:off x="5065776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5713E3A-168A-8BC2-C3EE-F3A66A91E75C}"/>
              </a:ext>
            </a:extLst>
          </p:cNvPr>
          <p:cNvSpPr/>
          <p:nvPr/>
        </p:nvSpPr>
        <p:spPr>
          <a:xfrm>
            <a:off x="5266944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E8E1E9B-2A61-E13E-2F94-CF72CAEF8899}"/>
              </a:ext>
            </a:extLst>
          </p:cNvPr>
          <p:cNvSpPr/>
          <p:nvPr/>
        </p:nvSpPr>
        <p:spPr>
          <a:xfrm>
            <a:off x="5266944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0F55F0D-A801-AB64-26D0-30333CF0FAE7}"/>
              </a:ext>
            </a:extLst>
          </p:cNvPr>
          <p:cNvSpPr/>
          <p:nvPr/>
        </p:nvSpPr>
        <p:spPr>
          <a:xfrm>
            <a:off x="5266944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service against the coverage policy that applied on the date of service.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5C002ED-FF92-6CAE-E7A7-AE170F7985E5}"/>
              </a:ext>
            </a:extLst>
          </p:cNvPr>
          <p:cNvSpPr/>
          <p:nvPr/>
        </p:nvSpPr>
        <p:spPr>
          <a:xfrm>
            <a:off x="5266944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4940266-1EB1-0548-7140-365D982B0F71}"/>
              </a:ext>
            </a:extLst>
          </p:cNvPr>
          <p:cNvSpPr/>
          <p:nvPr/>
        </p:nvSpPr>
        <p:spPr>
          <a:xfrm>
            <a:off x="5266944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E7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GraphRAG retrieval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C8F5A9D-B69D-C840-D6C0-F97761C0780F}"/>
              </a:ext>
            </a:extLst>
          </p:cNvPr>
          <p:cNvSpPr/>
          <p:nvPr/>
        </p:nvSpPr>
        <p:spPr>
          <a:xfrm>
            <a:off x="7324344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7291DA1-5826-91EC-E0D6-5E079E820C1E}"/>
              </a:ext>
            </a:extLst>
          </p:cNvPr>
          <p:cNvSpPr/>
          <p:nvPr/>
        </p:nvSpPr>
        <p:spPr>
          <a:xfrm>
            <a:off x="7525512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0787F4B-B622-8925-BF4C-E5AB4251F60F}"/>
              </a:ext>
            </a:extLst>
          </p:cNvPr>
          <p:cNvSpPr/>
          <p:nvPr/>
        </p:nvSpPr>
        <p:spPr>
          <a:xfrm>
            <a:off x="7525512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771683D-F7F1-DA14-AE9A-2A790A175BD9}"/>
              </a:ext>
            </a:extLst>
          </p:cNvPr>
          <p:cNvSpPr/>
          <p:nvPr/>
        </p:nvSpPr>
        <p:spPr>
          <a:xfrm>
            <a:off x="7525512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charge to the provider’s real peers, not a global average.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0639370-2531-F9BD-6EB5-0BB288CEAD21}"/>
              </a:ext>
            </a:extLst>
          </p:cNvPr>
          <p:cNvSpPr/>
          <p:nvPr/>
        </p:nvSpPr>
        <p:spPr>
          <a:xfrm>
            <a:off x="7525512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E66C4AF-708A-E20A-5E6D-D619CFFAE868}"/>
              </a:ext>
            </a:extLst>
          </p:cNvPr>
          <p:cNvSpPr/>
          <p:nvPr/>
        </p:nvSpPr>
        <p:spPr>
          <a:xfrm>
            <a:off x="7525512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· specialty × code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9923BCD-4155-FAC6-DB65-6F3C05269500}"/>
              </a:ext>
            </a:extLst>
          </p:cNvPr>
          <p:cNvSpPr/>
          <p:nvPr/>
        </p:nvSpPr>
        <p:spPr>
          <a:xfrm>
            <a:off x="9582912" y="2377440"/>
            <a:ext cx="2029968" cy="3200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28575">
            <a:solidFill>
              <a:schemeClr val="tx1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A3EC4DD-9896-197C-8CE8-E9F02A9C5DB0}"/>
              </a:ext>
            </a:extLst>
          </p:cNvPr>
          <p:cNvSpPr/>
          <p:nvPr/>
        </p:nvSpPr>
        <p:spPr>
          <a:xfrm>
            <a:off x="97840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9EEEE21-C6FC-D70E-9183-5913810BF17F}"/>
              </a:ext>
            </a:extLst>
          </p:cNvPr>
          <p:cNvSpPr/>
          <p:nvPr/>
        </p:nvSpPr>
        <p:spPr>
          <a:xfrm>
            <a:off x="9784080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595455E-C524-5985-D140-2C05E8EBE634}"/>
              </a:ext>
            </a:extLst>
          </p:cNvPr>
          <p:cNvSpPr/>
          <p:nvPr/>
        </p:nvSpPr>
        <p:spPr>
          <a:xfrm>
            <a:off x="9784080" y="34290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findings into a risk score, dollars at risk, and one action.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99B1D22-D0E5-9AFC-FF15-130C8C5E086C}"/>
              </a:ext>
            </a:extLst>
          </p:cNvPr>
          <p:cNvSpPr/>
          <p:nvPr/>
        </p:nvSpPr>
        <p:spPr>
          <a:xfrm>
            <a:off x="9784080" y="4956048"/>
            <a:ext cx="1627632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BBD1569-52E3-953A-E747-F316F8730E36}"/>
              </a:ext>
            </a:extLst>
          </p:cNvPr>
          <p:cNvSpPr/>
          <p:nvPr/>
        </p:nvSpPr>
        <p:spPr>
          <a:xfrm>
            <a:off x="9784080" y="5029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scoring + human review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AFDBAB7-962B-F892-F406-F041B66969BE}"/>
              </a:ext>
            </a:extLst>
          </p:cNvPr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where rules are exact. Retrieval where meaning matters. Statistics where peer behavior matters. No single method has to do everything.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557955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TRENDS · RETRIEVAL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METHOD DECIDES THE DETERMINATION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30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retrieval</a:t>
            </a: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plain RAG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22951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returns </a:t>
            </a: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text chunks</a:t>
            </a:r>
            <a:r>
              <a:rPr lang="en-US" sz="1400" b="1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structured reasoning for a policy call.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32095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retrieval reasons </a:t>
            </a: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related entities</a:t>
            </a:r>
            <a:r>
              <a:rPr lang="en-US" sz="1400" b="1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procedure, diagnosis, policy and not isolated passages.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41239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MedGraphRAG returns answers </a:t>
            </a: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evidence with citations</a:t>
            </a: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higher medical-QA accuracy.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50383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edges anchor retrieval to the </a:t>
            </a: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 force on the date of service</a:t>
            </a: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36118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1F0E8"/>
          </a:solidFill>
          <a:ln w="12700">
            <a:solidFill>
              <a:srgbClr val="D2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70553 · MRI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49840" y="260604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E6C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49840" y="2606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F4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POL-IMG-001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Jan–Aug 2025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49840" y="461772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C6D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49840" y="46177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81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POL-IMG-002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 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V="1">
            <a:off x="9235440" y="2926080"/>
            <a:ext cx="914400" cy="914400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35440" y="4069080"/>
            <a:ext cx="914400" cy="868680"/>
          </a:xfrm>
          <a:prstGeom prst="line">
            <a:avLst/>
          </a:prstGeom>
          <a:noFill/>
          <a:ln w="19050">
            <a:solidFill>
              <a:srgbClr val="9AA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 rot="18870527">
            <a:off x="9281160" y="31546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 rot="2584290">
            <a:off x="9258300" y="44942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procedures, diagnoses, and policies as a graph lets a determination cite the applicable rule and its effective period.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REVIEW CONSOLE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PERSON WHO MAKES THE CALL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ranks and explains. </a:t>
            </a:r>
            <a:r>
              <a:rPr lang="en-US" sz="27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decides.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85216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CLM-100613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83480" y="2487168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4E6E2"/>
          </a:solidFill>
          <a:ln w="12700">
            <a:solidFill>
              <a:srgbClr val="E6C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38928" y="2633472"/>
            <a:ext cx="91440" cy="91440"/>
          </a:xfrm>
          <a:prstGeom prst="ellipse">
            <a:avLst/>
          </a:prstGeom>
          <a:solidFill>
            <a:srgbClr val="AF4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85232" y="2487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AF4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273552"/>
            <a:ext cx="2916936" cy="146304"/>
          </a:xfrm>
          <a:prstGeom prst="roundRect">
            <a:avLst>
              <a:gd name="adj" fmla="val 50000"/>
            </a:avLst>
          </a:prstGeom>
          <a:solidFill>
            <a:srgbClr val="3C8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39896" y="3273552"/>
            <a:ext cx="1484986" cy="146304"/>
          </a:xfrm>
          <a:prstGeom prst="rect">
            <a:avLst/>
          </a:prstGeom>
          <a:solidFill>
            <a:srgbClr val="BE7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24882" y="3273552"/>
            <a:ext cx="901598" cy="146304"/>
          </a:xfrm>
          <a:prstGeom prst="roundRect">
            <a:avLst>
              <a:gd name="adj" fmla="val 50000"/>
            </a:avLst>
          </a:prstGeom>
          <a:solidFill>
            <a:srgbClr val="AF4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47565" y="3227832"/>
            <a:ext cx="36576" cy="237744"/>
          </a:xfrm>
          <a:prstGeom prst="rect">
            <a:avLst/>
          </a:prstGeom>
          <a:solidFill>
            <a:srgbClr val="15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$14,962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4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$14,962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51760" y="4069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RISK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80560" y="4069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4480560"/>
            <a:ext cx="5303520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CLAIM IS FLAGGED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486460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F6EC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864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E7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48371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denied under POL-IMG-001, in force on the date of service.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523036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E8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5230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37360" y="5202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panel billed as components, not the bundled code.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559612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F1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5596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37360" y="55686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is 3.1 times above same-specialty peers for this code.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2606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60920" y="25603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ranked by dollars at risk</a:t>
            </a:r>
            <a:r>
              <a:rPr lang="en-US" sz="1400" b="1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most consequential claims sit on top.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66560" y="3657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60920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reasons</a:t>
            </a: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each tagged to the agent that produced it: policy, coding, or peer.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766560" y="47091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6656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360920" y="4663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disposition exports to a worklist</a:t>
            </a:r>
            <a:r>
              <a:rPr lang="en-US" sz="140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human stays in charge of the outcome.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console view. Only what was billed, what is recoverable, and why.</a:t>
            </a:r>
            <a:endParaRPr lang="en-US" sz="11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3FC8A6-205D-5AB3-AB2B-34F8A481CE8D}"/>
              </a:ext>
            </a:extLst>
          </p:cNvPr>
          <p:cNvSpPr txBox="1"/>
          <p:nvPr/>
        </p:nvSpPr>
        <p:spPr>
          <a:xfrm>
            <a:off x="7064829" y="58704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http://localhost:8501/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OPTIONS FOR COTIVITI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 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kern="0" spc="100" dirty="0">
              <a:solidFill>
                <a:srgbClr val="114C5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b="1" kern="0" spc="1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443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temporal GraphRAG for necessity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knowledge-graph layer mapping payer policies to clinical ontologies, with the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service as a hard filter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9443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prior-guided claim routing using Real World Evidence (RWE)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886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Bayesian orchestrator using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OIG-LEIE overrides and facility-network terms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route fast or deep.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1248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29443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peer-baseline profiling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3886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agents using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Part B baselines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specialty z-scores, without labeled fraud data.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options are exactly what the proof of concept implements next.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896288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RECOMMENDATION TO RUNNING CODE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provides PoC for all 3 options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807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GraphRAG necessity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54880" y="2679192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Necessity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26791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policy in force on the claim’s date of service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3447288"/>
            <a:ext cx="10424160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813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Prior-guided routing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754880" y="3685032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3685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69480" y="36850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provider risk + LEIE override decide fast vs deep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8680" y="4453128"/>
            <a:ext cx="10424160" cy="0"/>
          </a:xfrm>
          <a:prstGeom prst="line">
            <a:avLst/>
          </a:prstGeom>
          <a:noFill/>
          <a:ln w="12700">
            <a:solidFill>
              <a:srgbClr val="E5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544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818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Peer-baseline profiling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60520" y="4617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754880" y="4690872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8F1F2"/>
          </a:solidFill>
          <a:ln w="12700">
            <a:solidFill>
              <a:srgbClr val="CD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4690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46908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z-score against CMS-style peer baselines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Plus, a deterministic coding agent and a reviewer that turns findings into an action; five agents, running end-to-end.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110830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— AND ISN'T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PoC, not a fully functional MVP 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432304"/>
            <a:ext cx="146304" cy="146304"/>
          </a:xfrm>
          <a:prstGeom prst="ellipse">
            <a:avLst/>
          </a:prstGeom>
          <a:solidFill>
            <a:srgbClr val="1C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3225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337381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</a:t>
            </a:r>
            <a:r>
              <a:rPr lang="en-US" sz="15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claims that match real schemas of</a:t>
            </a:r>
            <a:r>
              <a:rPr lang="en-US" sz="15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CMS Part B and the OIG exclusion list (LEIE). 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6928" y="3529584"/>
            <a:ext cx="146304" cy="146304"/>
          </a:xfrm>
          <a:prstGeom prst="ellipse">
            <a:avLst/>
          </a:prstGeom>
          <a:solidFill>
            <a:srgbClr val="1C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406291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3419856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5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decision making.</a:t>
            </a:r>
            <a:r>
              <a:rPr lang="en-US" sz="15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not an autonomous payer and does not retrain itself in the current version; the reviewer makes every final call.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66928" y="4626864"/>
            <a:ext cx="146304" cy="146304"/>
          </a:xfrm>
          <a:prstGeom prst="ellipse">
            <a:avLst/>
          </a:prstGeom>
          <a:solidFill>
            <a:srgbClr val="1C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501209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14C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4517136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parts are </a:t>
            </a:r>
            <a:r>
              <a:rPr lang="en-US" sz="15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</a:t>
            </a:r>
            <a:r>
              <a:rPr lang="en-US" sz="15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small policy corpus and peer baselines, built on real libraries scikit-learn, networkx, and </a:t>
            </a:r>
            <a:r>
              <a:rPr lang="en-US" sz="1550" dirty="0" err="1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r>
              <a:rPr lang="en-US" sz="15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Graph-RAG full implementation and self-training to be explored in the internship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14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THREATS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66960" y="31089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E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DESIGN AGAINST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96926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threats to manage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4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443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“Black box” scrutiny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denials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traceable reasoning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provider abrasion, appeals, and penalties.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4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9443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semantic hallucination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886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without date-of-service guardrails can apply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policies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producing invalid denials.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E4DC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4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29443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agent drift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3886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degrades on new edge cases and </a:t>
            </a: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fraud</a:t>
            </a:r>
            <a:r>
              <a:rPr lang="en-US" sz="1350" dirty="0">
                <a:solidFill>
                  <a:srgbClr val="394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requiring ongoing validation.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mitigations are the same properties the design optimizes for: traceability, temporal guardrails, and continuous validation.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113763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analysis to </a:t>
            </a:r>
            <a:r>
              <a:rPr lang="en-US" sz="3800" b="1" dirty="0">
                <a:solidFill>
                  <a:srgbClr val="8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decision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makes the case for coordinated agents; the prototype proves it turning a risk score into an explained action, tied to the right rule on the right date, with a human in charge of the money decisions.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1B2A40"/>
          </a:solidFill>
          <a:ln w="12700">
            <a:solidFill>
              <a:srgbClr val="334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73352" y="4297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82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65960" y="4297680"/>
            <a:ext cx="905256" cy="457200"/>
          </a:xfrm>
          <a:prstGeom prst="roundRect">
            <a:avLst>
              <a:gd name="adj" fmla="val 20000"/>
            </a:avLst>
          </a:prstGeom>
          <a:solidFill>
            <a:srgbClr val="1B2A40"/>
          </a:solidFill>
          <a:ln w="12700">
            <a:solidFill>
              <a:srgbClr val="334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65960" y="429768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98648" y="4297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82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91256" y="4297680"/>
            <a:ext cx="1408176" cy="457200"/>
          </a:xfrm>
          <a:prstGeom prst="roundRect">
            <a:avLst>
              <a:gd name="adj" fmla="val 20000"/>
            </a:avLst>
          </a:prstGeom>
          <a:solidFill>
            <a:srgbClr val="1B2A40"/>
          </a:solidFill>
          <a:ln w="12700">
            <a:solidFill>
              <a:srgbClr val="334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91256" y="4297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necessity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4297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82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19472" y="4297680"/>
            <a:ext cx="1207008" cy="457200"/>
          </a:xfrm>
          <a:prstGeom prst="roundRect">
            <a:avLst>
              <a:gd name="adj" fmla="val 20000"/>
            </a:avLst>
          </a:prstGeom>
          <a:solidFill>
            <a:srgbClr val="1B2A40"/>
          </a:solidFill>
          <a:ln w="12700">
            <a:solidFill>
              <a:srgbClr val="334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42976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53912" y="4297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82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4297680"/>
            <a:ext cx="1106424" cy="457200"/>
          </a:xfrm>
          <a:prstGeom prst="roundRect">
            <a:avLst>
              <a:gd name="adj" fmla="val 20000"/>
            </a:avLst>
          </a:prstGeom>
          <a:solidFill>
            <a:srgbClr val="1B2A40"/>
          </a:solidFill>
          <a:ln w="12700">
            <a:solidFill>
              <a:srgbClr val="334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42976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0376" y="4297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82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72984" y="4297680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1E3047"/>
          </a:solidFill>
          <a:ln w="12700">
            <a:solidFill>
              <a:srgbClr val="8FD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72984" y="42976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D0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84A6AE1C-B70C-507E-2831-4B4270F9DC39}"/>
              </a:ext>
            </a:extLst>
          </p:cNvPr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Aishwarya Chandrasekaran 	                					       </a:t>
            </a: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University of Delaware     </a:t>
            </a:r>
            <a:r>
              <a:rPr lang="en-US" sz="1300" dirty="0">
                <a:solidFill>
                  <a:srgbClr val="9FB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2355</Words>
  <Application>Microsoft Macintosh PowerPoint</Application>
  <PresentationFormat>Widescreen</PresentationFormat>
  <Paragraphs>390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Healthcare Payment Integrity</dc:title>
  <dc:subject>PptxGenJS Presentation</dc:subject>
  <dc:creator>[Your Name]</dc:creator>
  <cp:lastModifiedBy>C, Aishwarya</cp:lastModifiedBy>
  <cp:revision>4</cp:revision>
  <dcterms:created xsi:type="dcterms:W3CDTF">2026-06-30T12:35:10Z</dcterms:created>
  <dcterms:modified xsi:type="dcterms:W3CDTF">2026-06-30T22:50:27Z</dcterms:modified>
</cp:coreProperties>
</file>